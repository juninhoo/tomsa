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da1ba06-7058-cf76-7e90-ed124302090d}">
          <p14:sldIdLst>
            <p14:sldId id="256"/>
          </p14:sldIdLst>
        </p14:section>
        <p14:section name="Método" id="{72a9eff8-1296-153a-2ac3-a2e46a0cbc88}">
          <p14:sldIdLst>
            <p14:sldId id="257"/>
          </p14:sldIdLst>
        </p14:section>
        <p14:section name="Demonstração" id="{9c12726b-5195-0484-b38a-2ea2ce0bf151}">
          <p14:sldIdLst>
            <p14:sldId id="258"/>
          </p14:sldIdLst>
        </p14:section>
        <p14:section name="Vistas" id="{c6c45ef9-5224-6990-12ee-5f3601b7e53c}">
          <p14:sldIdLst>
            <p14:sldId id="259"/>
            <p14:sldId id="260"/>
            <p14:sldId id="261"/>
          </p14:sldIdLst>
        </p14:section>
        <p14:section name="Resultados" id="{95001c52-3403-9ff2-5d91-1ac2675a293a}">
          <p14:sldIdLst>
            <p14:sldId id="262"/>
          </p14:sldIdLst>
        </p14:section>
        <p14:section name="Robustez" id="{9940d33e-6bba-fc99-30ba-7920b131b0eb}">
          <p14:sldIdLst>
            <p14:sldId id="263"/>
          </p14:sldIdLst>
        </p14:section>
        <p14:section name="Fecho" id="{abcb21aa-e7a9-35a4-5a9d-5b58747e5e7e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(20 s) Somos o grupo do Geovani, do Luis e do Hugo. Construímos um painel que mostra, em 3D, onde estiveram três submarinos autónomos reais do INESC TEC, em Aguçadoura, e que avisa quando dois deles ficam perto demais. A maior parte da apresentação é feita com vídeo e imagens do próprio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(40 s) Cada robot dá-nos um ficheiro CSV com latitude, longitude, profundidade e orientação. Convertemos tudo para metros num referencial local comum, o NED, e suavizamos com um filtro de Kalman e um suavizador RTS. Com as posições limpas calculamos a distância entre cada par de robots, o ponto de maior aproximação (CPA) e o tempo até lá (TCPA). Os três robots só registaram ao mesmo tempo durante cerca de 40 minutos; nesse período a menor distância foi 27.7 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 10 s) Carregar em reproduzir e deixar o vídeo correr. Comentar por cima: primeiro a vista global com os três robots e o rasto, depois a câmara a seguir um robot com a previsão a 60 segundos, a vista de terceira pessoa com radar, o submarino 3D com INESC TEC no casco, a vista de primeira pessoa, o cockpit, o gráfico das distâncias e por fim o relatório dos encontros. Se o vídeo não abrir, existe o ficheiro demo_tomsa.mp4 à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(30 s) Na vista global vemos os três robots no mar, com o rasto já percorrido e a previsão a 60 segundos a tracejado. Quando dois robots ficam a menos de 30 metros aparece a faixa amarela; abaixo de 10 metros fica vermelha. Aqui estão o Robot 1 e o Robot 4 a 29.3 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(30 s) A vista de terceira pessoa segue um robot de perto. O radar no canto mostra onde estão os outros: aqui o Robot 4 está a 39 metros e o Robot 7 a 268. O painel por baixo é um mini-cockpit com velocidade, rotação, profundidade e inclinação. O submarino é um modelo 3D que roda com o quaternião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(35 s) Na primeira pessoa a câmara está no nariz do submarino. A fita de cima é o rumo e a caixa em baixo diz qual é o vizinho mais próximo, com distância e azimute. O cockpit reúne os instrumentos: atitude do corpo, bússola com rumo e rota, velocidade medida contra estimada, profundidade e, em baixo, os vizinhos no referencial do próprio robot com o CPA e o TCPA.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(40 s) O gráfico mostra a distância entre cada par ao longo da missão. O Robot 7 esteve sempre longe, a mais de 175 metros. O Robot 1 e o Robot 4 aproximaram-se quatro vezes abaixo de 60 metros, e o ponto mais próximo foi 27.7 metros, aos 54 minutos e 9 segundos. Nunca desceram abaixo de 10 metros, por isso não houve perigo de colisão. O relatório da direita reúne isto tudo numa tabela, com botões para ir ver cada encontro na vista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(35 s) O engenheiro pode dar-nos outro CSV no dia. O programa aceita qualquer ficheiro no mesmo formato: basta indicar a pasta com a opção --dados. Os botões dos robots adaptam-se ao número de ficheiros. Acrescentámos também a deteção de colisão: se dois robots ficarem a menos de 2 metros, o Play pára, aparece a faixa vermelha COLISÃO e os dois robots ficam parados. Esta imagem é um teste com dados inventados, porque nos dados reais a distância mínima foi 27.7 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(20 s) Em resumo: pegámos nos dados reais do INESC TEC, convertemo-los, suavizámo-los e construímos um painel que mostra as trajetórias e mede o risco entre os robots. No caso real o ponto mais próximo foi 27.7 metros. O programa está pronto para receber outro ficheiro. Obrigado, estamos disponíveis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TOMSA 2026 · ISEP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64008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TOMSA 2026 · ISEP</a:t>
            </a:r>
            <a:endParaRPr lang="en-US" sz="1600" dirty="0"/>
          </a:p>
        </p:txBody>
      </p:sp>
      <p:sp>
        <p:nvSpPr>
          <p:cNvPr id="3" name="Titulo"/>
          <p:cNvSpPr txBox="1"/>
          <p:nvPr/>
        </p:nvSpPr>
        <p:spPr>
          <a:xfrm>
            <a:off x="640080" y="14630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Visualizador de trajetórias de AUVs</a:t>
            </a:r>
            <a:endParaRPr lang="en-US" sz="4200" dirty="0"/>
          </a:p>
        </p:txBody>
      </p:sp>
      <p:sp>
        <p:nvSpPr>
          <p:cNvPr id="4" name="Subtitulo"/>
          <p:cNvSpPr txBox="1"/>
          <p:nvPr/>
        </p:nvSpPr>
        <p:spPr>
          <a:xfrm>
            <a:off x="640080" y="33375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Distâncias e risco de colisão entre 3 veículos subaquáticos reais do INESC TEC, em Aguçadoura</a:t>
            </a:r>
            <a:endParaRPr lang="en-US" sz="2000" dirty="0"/>
          </a:p>
        </p:txBody>
      </p:sp>
      <p:sp>
        <p:nvSpPr>
          <p:cNvPr id="5" name="Autores"/>
          <p:cNvSpPr txBox="1"/>
          <p:nvPr/>
        </p:nvSpPr>
        <p:spPr>
          <a:xfrm>
            <a:off x="64008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Geovani Lopes · Luis Lei · Hugo Amado</a:t>
            </a:r>
            <a:endParaRPr lang="en-US" sz="1800" dirty="0"/>
          </a:p>
        </p:txBody>
      </p:sp>
      <p:sp>
        <p:nvSpPr>
          <p:cNvPr id="6" name="Unidade curricular"/>
          <p:cNvSpPr txBox="1"/>
          <p:nvPr/>
        </p:nvSpPr>
        <p:spPr>
          <a:xfrm>
            <a:off x="640080" y="5532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Tópicos de Matemática para Sistemas Autónomos</a:t>
            </a:r>
            <a:endParaRPr lang="en-US" sz="1400" dirty="0"/>
          </a:p>
        </p:txBody>
      </p:sp>
      <p:sp>
        <p:nvSpPr>
          <p:cNvPr id="7" name="Captura da vista 3ª pessoa moldura"/>
          <p:cNvSpPr/>
          <p:nvPr/>
        </p:nvSpPr>
        <p:spPr>
          <a:xfrm>
            <a:off x="6108192" y="1947672"/>
            <a:ext cx="5614416" cy="290200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pic>
        <p:nvPicPr>
          <p:cNvPr id="8" name="Captura da vista 3ª pessoa" descr="Captura da vista 3ª pesso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011680"/>
            <a:ext cx="5486400" cy="2773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Dos dados do robot ao painel 3D</a:t>
            </a:r>
            <a:endParaRPr lang="en-US" sz="3200" dirty="0"/>
          </a:p>
        </p:txBody>
      </p:sp>
      <p:sp>
        <p:nvSpPr>
          <p:cNvPr id="3" name="Passo 1 cartao"/>
          <p:cNvSpPr/>
          <p:nvPr/>
        </p:nvSpPr>
        <p:spPr>
          <a:xfrm>
            <a:off x="548640" y="1463040"/>
            <a:ext cx="2011680" cy="2148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4" name="Passo 1 circulo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asso 1 circulo numero"/>
          <p:cNvSpPr txBox="1"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Passo 1 titulo"/>
          <p:cNvSpPr txBox="1"/>
          <p:nvPr/>
        </p:nvSpPr>
        <p:spPr>
          <a:xfrm>
            <a:off x="7315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CSV do robot</a:t>
            </a:r>
            <a:endParaRPr lang="en-US" sz="1800" dirty="0"/>
          </a:p>
        </p:txBody>
      </p:sp>
      <p:sp>
        <p:nvSpPr>
          <p:cNvPr id="7" name="Passo 1 texto"/>
          <p:cNvSpPr txBox="1"/>
          <p:nvPr/>
        </p:nvSpPr>
        <p:spPr>
          <a:xfrm>
            <a:off x="731520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Posição GPS, orientação e covariância (ROS Odometry)</a:t>
            </a:r>
            <a:endParaRPr lang="en-US" sz="1400" dirty="0"/>
          </a:p>
        </p:txBody>
      </p:sp>
      <p:sp>
        <p:nvSpPr>
          <p:cNvPr id="8" name="Passo 2 cartao"/>
          <p:cNvSpPr/>
          <p:nvPr/>
        </p:nvSpPr>
        <p:spPr>
          <a:xfrm>
            <a:off x="2816352" y="1463040"/>
            <a:ext cx="2011680" cy="2148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Passo 2 circulo"/>
          <p:cNvSpPr/>
          <p:nvPr/>
        </p:nvSpPr>
        <p:spPr>
          <a:xfrm>
            <a:off x="2999232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asso 2 circulo numero"/>
          <p:cNvSpPr txBox="1"/>
          <p:nvPr/>
        </p:nvSpPr>
        <p:spPr>
          <a:xfrm>
            <a:off x="29992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Passo 2 titulo"/>
          <p:cNvSpPr txBox="1"/>
          <p:nvPr/>
        </p:nvSpPr>
        <p:spPr>
          <a:xfrm>
            <a:off x="2999232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 metros</a:t>
            </a:r>
            <a:endParaRPr lang="en-US" sz="1800" dirty="0"/>
          </a:p>
        </p:txBody>
      </p:sp>
      <p:sp>
        <p:nvSpPr>
          <p:cNvPr id="12" name="Passo 2 texto"/>
          <p:cNvSpPr txBox="1"/>
          <p:nvPr/>
        </p:nvSpPr>
        <p:spPr>
          <a:xfrm>
            <a:off x="2999232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WGS-84, ECEF e NED local, com origem comum</a:t>
            </a:r>
            <a:endParaRPr lang="en-US" sz="1400" dirty="0"/>
          </a:p>
        </p:txBody>
      </p:sp>
      <p:sp>
        <p:nvSpPr>
          <p:cNvPr id="13" name="Passo 3 cartao"/>
          <p:cNvSpPr/>
          <p:nvPr/>
        </p:nvSpPr>
        <p:spPr>
          <a:xfrm>
            <a:off x="5084064" y="1463040"/>
            <a:ext cx="2011680" cy="2148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Passo 3 circulo"/>
          <p:cNvSpPr/>
          <p:nvPr/>
        </p:nvSpPr>
        <p:spPr>
          <a:xfrm>
            <a:off x="5266944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Passo 3 circulo numero"/>
          <p:cNvSpPr txBox="1"/>
          <p:nvPr/>
        </p:nvSpPr>
        <p:spPr>
          <a:xfrm>
            <a:off x="526694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Passo 3 titulo"/>
          <p:cNvSpPr txBox="1"/>
          <p:nvPr/>
        </p:nvSpPr>
        <p:spPr>
          <a:xfrm>
            <a:off x="5266944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Suavização</a:t>
            </a:r>
            <a:endParaRPr lang="en-US" sz="1800" dirty="0"/>
          </a:p>
        </p:txBody>
      </p:sp>
      <p:sp>
        <p:nvSpPr>
          <p:cNvPr id="17" name="Passo 3 texto"/>
          <p:cNvSpPr txBox="1"/>
          <p:nvPr/>
        </p:nvSpPr>
        <p:spPr>
          <a:xfrm>
            <a:off x="5266944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Filtro de Kalman com suavizador RTS</a:t>
            </a:r>
            <a:endParaRPr lang="en-US" sz="1400" dirty="0"/>
          </a:p>
        </p:txBody>
      </p:sp>
      <p:sp>
        <p:nvSpPr>
          <p:cNvPr id="18" name="Passo 4 cartao"/>
          <p:cNvSpPr/>
          <p:nvPr/>
        </p:nvSpPr>
        <p:spPr>
          <a:xfrm>
            <a:off x="7351776" y="1463040"/>
            <a:ext cx="2011680" cy="2148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Passo 4 circulo"/>
          <p:cNvSpPr/>
          <p:nvPr/>
        </p:nvSpPr>
        <p:spPr>
          <a:xfrm>
            <a:off x="7534656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Passo 4 circulo numero"/>
          <p:cNvSpPr txBox="1"/>
          <p:nvPr/>
        </p:nvSpPr>
        <p:spPr>
          <a:xfrm>
            <a:off x="753465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Passo 4 titulo"/>
          <p:cNvSpPr txBox="1"/>
          <p:nvPr/>
        </p:nvSpPr>
        <p:spPr>
          <a:xfrm>
            <a:off x="7534656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Segurança</a:t>
            </a:r>
            <a:endParaRPr lang="en-US" sz="1800" dirty="0"/>
          </a:p>
        </p:txBody>
      </p:sp>
      <p:sp>
        <p:nvSpPr>
          <p:cNvPr id="22" name="Passo 4 texto"/>
          <p:cNvSpPr txBox="1"/>
          <p:nvPr/>
        </p:nvSpPr>
        <p:spPr>
          <a:xfrm>
            <a:off x="7534656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Distância, CPA e TCPA entre pares; previsão a 60 s</a:t>
            </a:r>
            <a:endParaRPr lang="en-US" sz="1400" dirty="0"/>
          </a:p>
        </p:txBody>
      </p:sp>
      <p:sp>
        <p:nvSpPr>
          <p:cNvPr id="23" name="Passo 5 cartao"/>
          <p:cNvSpPr/>
          <p:nvPr/>
        </p:nvSpPr>
        <p:spPr>
          <a:xfrm>
            <a:off x="9619488" y="1463040"/>
            <a:ext cx="2011680" cy="2148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Passo 5 circulo"/>
          <p:cNvSpPr/>
          <p:nvPr/>
        </p:nvSpPr>
        <p:spPr>
          <a:xfrm>
            <a:off x="9802368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Passo 5 circulo numero"/>
          <p:cNvSpPr txBox="1"/>
          <p:nvPr/>
        </p:nvSpPr>
        <p:spPr>
          <a:xfrm>
            <a:off x="9802368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Passo 5 titulo"/>
          <p:cNvSpPr txBox="1"/>
          <p:nvPr/>
        </p:nvSpPr>
        <p:spPr>
          <a:xfrm>
            <a:off x="9802368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Painel 3D</a:t>
            </a:r>
            <a:endParaRPr lang="en-US" sz="1800" dirty="0"/>
          </a:p>
        </p:txBody>
      </p:sp>
      <p:sp>
        <p:nvSpPr>
          <p:cNvPr id="27" name="Passo 5 texto"/>
          <p:cNvSpPr txBox="1"/>
          <p:nvPr/>
        </p:nvSpPr>
        <p:spPr>
          <a:xfrm>
            <a:off x="9802368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 vistas interativas e relatório dos encontros</a:t>
            </a:r>
            <a:endParaRPr lang="en-US" sz="1400" dirty="0"/>
          </a:p>
        </p:txBody>
      </p:sp>
      <p:sp>
        <p:nvSpPr>
          <p:cNvPr id="28" name="Estatistica robots cartao"/>
          <p:cNvSpPr/>
          <p:nvPr/>
        </p:nvSpPr>
        <p:spPr>
          <a:xfrm>
            <a:off x="548640" y="402336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Estatistica robots numero"/>
          <p:cNvSpPr txBox="1"/>
          <p:nvPr/>
        </p:nvSpPr>
        <p:spPr>
          <a:xfrm>
            <a:off x="731520" y="4133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30" name="Estatistica robots legenda"/>
          <p:cNvSpPr txBox="1"/>
          <p:nvPr/>
        </p:nvSpPr>
        <p:spPr>
          <a:xfrm>
            <a:off x="731520" y="4892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AUVs reais: Robot 1, Robot 4 e Robot 7</a:t>
            </a:r>
            <a:endParaRPr lang="en-US" sz="1400" dirty="0"/>
          </a:p>
        </p:txBody>
      </p:sp>
      <p:sp>
        <p:nvSpPr>
          <p:cNvPr id="31" name="Estatistica janela cartao"/>
          <p:cNvSpPr/>
          <p:nvPr/>
        </p:nvSpPr>
        <p:spPr>
          <a:xfrm>
            <a:off x="3337560" y="402336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Estatistica janela numero"/>
          <p:cNvSpPr txBox="1"/>
          <p:nvPr/>
        </p:nvSpPr>
        <p:spPr>
          <a:xfrm>
            <a:off x="3520440" y="4133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40 min</a:t>
            </a:r>
            <a:endParaRPr lang="en-US" sz="4000" dirty="0"/>
          </a:p>
        </p:txBody>
      </p:sp>
      <p:sp>
        <p:nvSpPr>
          <p:cNvPr id="33" name="Estatistica janela legenda"/>
          <p:cNvSpPr txBox="1"/>
          <p:nvPr/>
        </p:nvSpPr>
        <p:spPr>
          <a:xfrm>
            <a:off x="3520440" y="4892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 os três a registar ao mesmo tempo (2396 s)</a:t>
            </a:r>
            <a:endParaRPr lang="en-US" sz="1400" dirty="0"/>
          </a:p>
        </p:txBody>
      </p:sp>
      <p:sp>
        <p:nvSpPr>
          <p:cNvPr id="34" name="Estatistica minimo cartao"/>
          <p:cNvSpPr/>
          <p:nvPr/>
        </p:nvSpPr>
        <p:spPr>
          <a:xfrm>
            <a:off x="6126480" y="402336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Estatistica minimo numero"/>
          <p:cNvSpPr txBox="1"/>
          <p:nvPr/>
        </p:nvSpPr>
        <p:spPr>
          <a:xfrm>
            <a:off x="6309360" y="41330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27.7 m</a:t>
            </a:r>
            <a:endParaRPr lang="en-US" sz="4000" dirty="0"/>
          </a:p>
        </p:txBody>
      </p:sp>
      <p:sp>
        <p:nvSpPr>
          <p:cNvPr id="36" name="Estatistica minimo legenda"/>
          <p:cNvSpPr txBox="1"/>
          <p:nvPr/>
        </p:nvSpPr>
        <p:spPr>
          <a:xfrm>
            <a:off x="6309360" y="4892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distância mínima entre dois robots</a:t>
            </a:r>
            <a:endParaRPr lang="en-US" sz="1400" dirty="0"/>
          </a:p>
        </p:txBody>
      </p:sp>
      <p:sp>
        <p:nvSpPr>
          <p:cNvPr id="37" name="Estatistica encontros cartao"/>
          <p:cNvSpPr/>
          <p:nvPr/>
        </p:nvSpPr>
        <p:spPr>
          <a:xfrm>
            <a:off x="8915400" y="4023360"/>
            <a:ext cx="26974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38" name="Estatistica encontros numero"/>
          <p:cNvSpPr txBox="1"/>
          <p:nvPr/>
        </p:nvSpPr>
        <p:spPr>
          <a:xfrm>
            <a:off x="9098280" y="41330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39" name="Estatistica encontros legenda"/>
          <p:cNvSpPr txBox="1"/>
          <p:nvPr/>
        </p:nvSpPr>
        <p:spPr>
          <a:xfrm>
            <a:off x="9098280" y="4892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encontros a menos de 60 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Demonstração em vídeo</a:t>
            </a:r>
            <a:endParaRPr lang="en-US" sz="3200" dirty="0"/>
          </a:p>
        </p:txBody>
      </p:sp>
      <p:pic>
        <p:nvPicPr>
          <p:cNvPr id="3" name="Video de demonstraca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84248" y="1371600"/>
            <a:ext cx="8229600" cy="4572000"/>
          </a:xfrm>
          <a:prstGeom prst="rect">
            <a:avLst/>
          </a:prstGeom>
        </p:spPr>
      </p:pic>
      <p:sp>
        <p:nvSpPr>
          <p:cNvPr id="4" name="Legenda do video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 min 8 s: global, seguimento, 3ª pessoa, casco, 1ª pessoa, cockpit, distâncias e relatório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Vista Global 3D: onde está cada robot</a:t>
            </a:r>
            <a:endParaRPr lang="en-US" sz="3200" dirty="0"/>
          </a:p>
        </p:txBody>
      </p:sp>
      <p:sp>
        <p:nvSpPr>
          <p:cNvPr id="3" name="Captura da vista global 3D moldura"/>
          <p:cNvSpPr/>
          <p:nvPr/>
        </p:nvSpPr>
        <p:spPr>
          <a:xfrm>
            <a:off x="484632" y="1444752"/>
            <a:ext cx="8083296" cy="415030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pic>
        <p:nvPicPr>
          <p:cNvPr id="4" name="Captura da vista global 3D" descr="Captura da vista global 3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955280" cy="4022287"/>
          </a:xfrm>
          <a:prstGeom prst="rect">
            <a:avLst/>
          </a:prstGeom>
        </p:spPr>
      </p:pic>
      <p:sp>
        <p:nvSpPr>
          <p:cNvPr id="5" name="Legenda da captura"/>
          <p:cNvSpPr txBox="1"/>
          <p:nvPr/>
        </p:nvSpPr>
        <p:spPr>
          <a:xfrm>
            <a:off x="548640" y="5715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Aos 53m 59.8s: Robot 1 e Robot 4 a 29.3 m, aviso amarelo</a:t>
            </a:r>
            <a:endParaRPr lang="en-US" sz="1200" dirty="0"/>
          </a:p>
        </p:txBody>
      </p:sp>
      <p:sp>
        <p:nvSpPr>
          <p:cNvPr id="6" name="Bloco rasto titulo"/>
          <p:cNvSpPr txBox="1"/>
          <p:nvPr/>
        </p:nvSpPr>
        <p:spPr>
          <a:xfrm>
            <a:off x="89154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Rasto e previsão</a:t>
            </a:r>
            <a:endParaRPr lang="en-US" sz="1800" dirty="0"/>
          </a:p>
        </p:txBody>
      </p:sp>
      <p:sp>
        <p:nvSpPr>
          <p:cNvPr id="7" name="Bloco rasto texto"/>
          <p:cNvSpPr txBox="1"/>
          <p:nvPr/>
        </p:nvSpPr>
        <p:spPr>
          <a:xfrm>
            <a:off x="891540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linha mostra o caminho feito; a tracejado, onde o robot estará daqui a 60 s.</a:t>
            </a:r>
            <a:endParaRPr lang="en-US" sz="1400" dirty="0"/>
          </a:p>
        </p:txBody>
      </p:sp>
      <p:sp>
        <p:nvSpPr>
          <p:cNvPr id="8" name="Bloco aviso titulo"/>
          <p:cNvSpPr txBox="1"/>
          <p:nvPr/>
        </p:nvSpPr>
        <p:spPr>
          <a:xfrm>
            <a:off x="89154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Faixa de aviso</a:t>
            </a:r>
            <a:endParaRPr lang="en-US" sz="1800" dirty="0"/>
          </a:p>
        </p:txBody>
      </p:sp>
      <p:sp>
        <p:nvSpPr>
          <p:cNvPr id="9" name="Bloco aviso texto"/>
          <p:cNvSpPr txBox="1"/>
          <p:nvPr/>
        </p:nvSpPr>
        <p:spPr>
          <a:xfrm>
            <a:off x="8915400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Amarela abaixo de 30 m, vermelha abaixo de 10 m.</a:t>
            </a:r>
            <a:endParaRPr lang="en-US" sz="1400" dirty="0"/>
          </a:p>
        </p:txBody>
      </p:sp>
      <p:sp>
        <p:nvSpPr>
          <p:cNvPr id="10" name="Bloco orientacao titulo"/>
          <p:cNvSpPr txBox="1"/>
          <p:nvPr/>
        </p:nvSpPr>
        <p:spPr>
          <a:xfrm>
            <a:off x="891540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Orientação real</a:t>
            </a:r>
            <a:endParaRPr lang="en-US" sz="1800" dirty="0"/>
          </a:p>
        </p:txBody>
      </p:sp>
      <p:sp>
        <p:nvSpPr>
          <p:cNvPr id="11" name="Bloco orientacao texto"/>
          <p:cNvSpPr txBox="1"/>
          <p:nvPr/>
        </p:nvSpPr>
        <p:spPr>
          <a:xfrm>
            <a:off x="8915400" y="49377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submarino roda com a orientação medida pelo próprio robot.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Vista 3ª Pessoa: radar e mini-cockpit</a:t>
            </a:r>
            <a:endParaRPr lang="en-US" sz="3200" dirty="0"/>
          </a:p>
        </p:txBody>
      </p:sp>
      <p:sp>
        <p:nvSpPr>
          <p:cNvPr id="3" name="Bloco radar titulo"/>
          <p:cNvSpPr txBox="1"/>
          <p:nvPr/>
        </p:nvSpPr>
        <p:spPr>
          <a:xfrm>
            <a:off x="54864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Radar</a:t>
            </a:r>
            <a:endParaRPr lang="en-US" sz="1800" dirty="0"/>
          </a:p>
        </p:txBody>
      </p:sp>
      <p:sp>
        <p:nvSpPr>
          <p:cNvPr id="4" name="Bloco radar texto"/>
          <p:cNvSpPr txBox="1"/>
          <p:nvPr/>
        </p:nvSpPr>
        <p:spPr>
          <a:xfrm>
            <a:off x="548640" y="1920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Mostra os vizinhos por rumo e distância; alcance de 50 m a 1000 m.</a:t>
            </a:r>
            <a:endParaRPr lang="en-US" sz="1400" dirty="0"/>
          </a:p>
        </p:txBody>
      </p:sp>
      <p:sp>
        <p:nvSpPr>
          <p:cNvPr id="5" name="Bloco minicockpit titulo"/>
          <p:cNvSpPr txBox="1"/>
          <p:nvPr/>
        </p:nvSpPr>
        <p:spPr>
          <a:xfrm>
            <a:off x="5486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Mini-cockpit</a:t>
            </a:r>
            <a:endParaRPr lang="en-US" sz="1800" dirty="0"/>
          </a:p>
        </p:txBody>
      </p:sp>
      <p:sp>
        <p:nvSpPr>
          <p:cNvPr id="6" name="Bloco minicockpit texto"/>
          <p:cNvSpPr txBox="1"/>
          <p:nvPr/>
        </p:nvSpPr>
        <p:spPr>
          <a:xfrm>
            <a:off x="548640" y="3429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Velocidade, rotação, profundidade e inclinação do robot seguido.</a:t>
            </a:r>
            <a:endParaRPr lang="en-US" sz="1400" dirty="0"/>
          </a:p>
        </p:txBody>
      </p:sp>
      <p:sp>
        <p:nvSpPr>
          <p:cNvPr id="7" name="Bloco camara titulo"/>
          <p:cNvSpPr txBox="1"/>
          <p:nvPr/>
        </p:nvSpPr>
        <p:spPr>
          <a:xfrm>
            <a:off x="54864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Câmara à volta do robot</a:t>
            </a:r>
            <a:endParaRPr lang="en-US" sz="1800" dirty="0"/>
          </a:p>
        </p:txBody>
      </p:sp>
      <p:sp>
        <p:nvSpPr>
          <p:cNvPr id="8" name="Bloco camara texto"/>
          <p:cNvSpPr txBox="1"/>
          <p:nvPr/>
        </p:nvSpPr>
        <p:spPr>
          <a:xfrm>
            <a:off x="548640" y="4937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Arrastar para rodar, roda do rato para aproximar.</a:t>
            </a:r>
            <a:endParaRPr lang="en-US" sz="1400" dirty="0"/>
          </a:p>
        </p:txBody>
      </p:sp>
      <p:sp>
        <p:nvSpPr>
          <p:cNvPr id="9" name="Captura da vista 3ª pessoa moldura"/>
          <p:cNvSpPr/>
          <p:nvPr/>
        </p:nvSpPr>
        <p:spPr>
          <a:xfrm>
            <a:off x="3730752" y="1444752"/>
            <a:ext cx="7946136" cy="408095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pic>
        <p:nvPicPr>
          <p:cNvPr id="10" name="Captura da vista 3ª pessoa" descr="Captura da vista 3ª pesso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508760"/>
            <a:ext cx="7818120" cy="3952938"/>
          </a:xfrm>
          <a:prstGeom prst="rect">
            <a:avLst/>
          </a:prstGeom>
        </p:spPr>
      </p:pic>
      <p:sp>
        <p:nvSpPr>
          <p:cNvPr id="11" name="Legenda da captura"/>
          <p:cNvSpPr txBox="1"/>
          <p:nvPr/>
        </p:nvSpPr>
        <p:spPr>
          <a:xfrm>
            <a:off x="3794760" y="57150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Aos 62m 29.8s: Robot 4 a 39 m do Robot 1; Robot 7 a 268 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Vista 1ª Pessoa e cockpit</a:t>
            </a:r>
            <a:endParaRPr lang="en-US" sz="3200" dirty="0"/>
          </a:p>
        </p:txBody>
      </p:sp>
      <p:sp>
        <p:nvSpPr>
          <p:cNvPr id="3" name="Captura da vista 1ª pessoa moldura"/>
          <p:cNvSpPr/>
          <p:nvPr/>
        </p:nvSpPr>
        <p:spPr>
          <a:xfrm>
            <a:off x="484632" y="1399032"/>
            <a:ext cx="5568696" cy="28823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pic>
        <p:nvPicPr>
          <p:cNvPr id="4" name="Captura da vista 1ª pessoa" descr="Captura da vista 1ª pesso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40680" cy="2754356"/>
          </a:xfrm>
          <a:prstGeom prst="rect">
            <a:avLst/>
          </a:prstGeom>
        </p:spPr>
      </p:pic>
      <p:sp>
        <p:nvSpPr>
          <p:cNvPr id="5" name="Captura do cockpit moldura"/>
          <p:cNvSpPr/>
          <p:nvPr/>
        </p:nvSpPr>
        <p:spPr>
          <a:xfrm>
            <a:off x="6135624" y="1399032"/>
            <a:ext cx="5568696" cy="288237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Captura do cockpit" descr="Captura do cockp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463040"/>
            <a:ext cx="5440680" cy="2754356"/>
          </a:xfrm>
          <a:prstGeom prst="rect">
            <a:avLst/>
          </a:prstGeom>
        </p:spPr>
      </p:pic>
      <p:sp>
        <p:nvSpPr>
          <p:cNvPr id="7" name="Titulo 1 pessoa"/>
          <p:cNvSpPr txBox="1"/>
          <p:nvPr/>
        </p:nvSpPr>
        <p:spPr>
          <a:xfrm>
            <a:off x="548640" y="45262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Vista 1ª Pessoa</a:t>
            </a:r>
            <a:endParaRPr lang="en-US" sz="2000" dirty="0"/>
          </a:p>
        </p:txBody>
      </p:sp>
      <p:sp>
        <p:nvSpPr>
          <p:cNvPr id="8" name="Texto 1 pessoa"/>
          <p:cNvSpPr txBox="1"/>
          <p:nvPr/>
        </p:nvSpPr>
        <p:spPr>
          <a:xfrm>
            <a:off x="548640" y="498348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Câmara no nariz do robot, com fita de rumo, profundidade, arfagem, rolamento e a caixa do vizinho mais próximo.</a:t>
            </a:r>
            <a:endParaRPr lang="en-US" sz="1400" dirty="0"/>
          </a:p>
        </p:txBody>
      </p:sp>
      <p:sp>
        <p:nvSpPr>
          <p:cNvPr id="9" name="Titulo cockpit"/>
          <p:cNvSpPr txBox="1"/>
          <p:nvPr/>
        </p:nvSpPr>
        <p:spPr>
          <a:xfrm>
            <a:off x="6199632" y="45262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Cockpit</a:t>
            </a:r>
            <a:endParaRPr lang="en-US" sz="2000" dirty="0"/>
          </a:p>
        </p:txBody>
      </p:sp>
      <p:sp>
        <p:nvSpPr>
          <p:cNvPr id="10" name="Texto cockpit"/>
          <p:cNvSpPr txBox="1"/>
          <p:nvPr/>
        </p:nvSpPr>
        <p:spPr>
          <a:xfrm>
            <a:off x="6199632" y="498348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Atitude, bússola, velocidade medida e estimada, profundidade e vizinhos com CPA e TCPA.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Distâncias e encontros entre robots</a:t>
            </a:r>
            <a:endParaRPr lang="en-US" sz="3200" dirty="0"/>
          </a:p>
        </p:txBody>
      </p:sp>
      <p:sp>
        <p:nvSpPr>
          <p:cNvPr id="3" name="Captura do gráfico das distâncias moldura"/>
          <p:cNvSpPr/>
          <p:nvPr/>
        </p:nvSpPr>
        <p:spPr>
          <a:xfrm>
            <a:off x="484632" y="1490472"/>
            <a:ext cx="5568696" cy="2459769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pic>
        <p:nvPicPr>
          <p:cNvPr id="4" name="Captura do gráfico das distâncias" descr="Captura do gráfico das distânc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40680" cy="2331753"/>
          </a:xfrm>
          <a:prstGeom prst="rect">
            <a:avLst/>
          </a:prstGeom>
        </p:spPr>
      </p:pic>
      <p:sp>
        <p:nvSpPr>
          <p:cNvPr id="5" name="Captura do relatório dos encontros moldura"/>
          <p:cNvSpPr/>
          <p:nvPr/>
        </p:nvSpPr>
        <p:spPr>
          <a:xfrm>
            <a:off x="6135624" y="1490472"/>
            <a:ext cx="5568696" cy="2459769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pic>
        <p:nvPicPr>
          <p:cNvPr id="6" name="Captura do relatório dos encontros" descr="Captura do relatório dos encontr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554480"/>
            <a:ext cx="5440680" cy="2331753"/>
          </a:xfrm>
          <a:prstGeom prst="rect">
            <a:avLst/>
          </a:prstGeom>
        </p:spPr>
      </p:pic>
      <p:sp>
        <p:nvSpPr>
          <p:cNvPr id="7" name="Legenda distancias"/>
          <p:cNvSpPr txBox="1"/>
          <p:nvPr/>
        </p:nvSpPr>
        <p:spPr>
          <a:xfrm>
            <a:off x="548640" y="4069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Distância entre cada par, com os limiares de 10 m e 30 m</a:t>
            </a:r>
            <a:endParaRPr lang="en-US" sz="1200" dirty="0"/>
          </a:p>
        </p:txBody>
      </p:sp>
      <p:sp>
        <p:nvSpPr>
          <p:cNvPr id="8" name="Legenda relatorio"/>
          <p:cNvSpPr txBox="1"/>
          <p:nvPr/>
        </p:nvSpPr>
        <p:spPr>
          <a:xfrm>
            <a:off x="6199632" y="40690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Relatório automático dos encontros</a:t>
            </a:r>
            <a:endParaRPr lang="en-US" sz="1200" dirty="0"/>
          </a:p>
        </p:txBody>
      </p:sp>
      <p:sp>
        <p:nvSpPr>
          <p:cNvPr id="9" name="Resultado minima cartao"/>
          <p:cNvSpPr/>
          <p:nvPr/>
        </p:nvSpPr>
        <p:spPr>
          <a:xfrm>
            <a:off x="54864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Resultado minima numero"/>
          <p:cNvSpPr txBox="1"/>
          <p:nvPr/>
        </p:nvSpPr>
        <p:spPr>
          <a:xfrm>
            <a:off x="731520" y="46360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27.7 m</a:t>
            </a:r>
            <a:endParaRPr lang="en-US" sz="4000" dirty="0"/>
          </a:p>
        </p:txBody>
      </p:sp>
      <p:sp>
        <p:nvSpPr>
          <p:cNvPr id="11" name="Resultado minima legenda"/>
          <p:cNvSpPr txBox="1"/>
          <p:nvPr/>
        </p:nvSpPr>
        <p:spPr>
          <a:xfrm>
            <a:off x="73152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mínima, Robot 1 e Robot 4, aos 54m 9.3s</a:t>
            </a:r>
            <a:endParaRPr lang="en-US" sz="1400" dirty="0"/>
          </a:p>
        </p:txBody>
      </p:sp>
      <p:sp>
        <p:nvSpPr>
          <p:cNvPr id="12" name="Resultado encontros cartao"/>
          <p:cNvSpPr/>
          <p:nvPr/>
        </p:nvSpPr>
        <p:spPr>
          <a:xfrm>
            <a:off x="429768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Resultado encontros numero"/>
          <p:cNvSpPr txBox="1"/>
          <p:nvPr/>
        </p:nvSpPr>
        <p:spPr>
          <a:xfrm>
            <a:off x="4480560" y="46360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4" name="Resultado encontros legenda"/>
          <p:cNvSpPr txBox="1"/>
          <p:nvPr/>
        </p:nvSpPr>
        <p:spPr>
          <a:xfrm>
            <a:off x="448056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encontros abaixo de 60 m, todos Robot 1 e Robot 4</a:t>
            </a:r>
            <a:endParaRPr lang="en-US" sz="1400" dirty="0"/>
          </a:p>
        </p:txBody>
      </p:sp>
      <p:sp>
        <p:nvSpPr>
          <p:cNvPr id="15" name="Resultado perigo cartao"/>
          <p:cNvSpPr/>
          <p:nvPr/>
        </p:nvSpPr>
        <p:spPr>
          <a:xfrm>
            <a:off x="8046720" y="452628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Resultado perigo numero"/>
          <p:cNvSpPr txBox="1"/>
          <p:nvPr/>
        </p:nvSpPr>
        <p:spPr>
          <a:xfrm>
            <a:off x="8229600" y="46360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</a:t>
            </a:r>
            <a:endParaRPr lang="en-US" sz="4000" dirty="0"/>
          </a:p>
        </p:txBody>
      </p:sp>
      <p:sp>
        <p:nvSpPr>
          <p:cNvPr id="17" name="Resultado perigo legenda"/>
          <p:cNvSpPr txBox="1"/>
          <p:nvPr/>
        </p:nvSpPr>
        <p:spPr>
          <a:xfrm>
            <a:off x="822960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casos abaixo de 10 m (perigo)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Preparado para ficheiros novos</a:t>
            </a:r>
            <a:endParaRPr lang="en-US" sz="3200" dirty="0"/>
          </a:p>
        </p:txBody>
      </p:sp>
      <p:sp>
        <p:nvSpPr>
          <p:cNvPr id="3" name="Captura da colisão simulada moldura"/>
          <p:cNvSpPr/>
          <p:nvPr/>
        </p:nvSpPr>
        <p:spPr>
          <a:xfrm>
            <a:off x="484632" y="1444752"/>
            <a:ext cx="7077456" cy="3664087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pic>
        <p:nvPicPr>
          <p:cNvPr id="4" name="Captura da colisão simulada" descr="Captura da colisão simul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3536071"/>
          </a:xfrm>
          <a:prstGeom prst="rect">
            <a:avLst/>
          </a:prstGeom>
        </p:spPr>
      </p:pic>
      <p:sp>
        <p:nvSpPr>
          <p:cNvPr id="5" name="Legenda da captura"/>
          <p:cNvSpPr txBox="1"/>
          <p:nvPr/>
        </p:nvSpPr>
        <p:spPr>
          <a:xfrm>
            <a:off x="548640" y="52578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Teste com dados inventados: Robot 4 chega a 1.9 m do Robot 1</a:t>
            </a:r>
            <a:endParaRPr lang="en-US" sz="1200" dirty="0"/>
          </a:p>
        </p:txBody>
      </p:sp>
      <p:sp>
        <p:nvSpPr>
          <p:cNvPr id="6" name="Bloco csv titulo"/>
          <p:cNvSpPr txBox="1"/>
          <p:nvPr/>
        </p:nvSpPr>
        <p:spPr>
          <a:xfrm>
            <a:off x="786384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Qualquer CSV no mesmo formato</a:t>
            </a:r>
            <a:endParaRPr lang="en-US" sz="1800" dirty="0"/>
          </a:p>
        </p:txBody>
      </p:sp>
      <p:sp>
        <p:nvSpPr>
          <p:cNvPr id="7" name="Comando"/>
          <p:cNvSpPr txBox="1"/>
          <p:nvPr/>
        </p:nvSpPr>
        <p:spPr>
          <a:xfrm>
            <a:off x="7863840" y="1965960"/>
            <a:ext cx="374904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 --web --dados pasta_nova</a:t>
            </a:r>
            <a:endParaRPr lang="en-US" sz="1400" dirty="0"/>
          </a:p>
        </p:txBody>
      </p:sp>
      <p:sp>
        <p:nvSpPr>
          <p:cNvPr id="8" name="Bloco csv texto"/>
          <p:cNvSpPr txBox="1"/>
          <p:nvPr/>
        </p:nvSpPr>
        <p:spPr>
          <a:xfrm>
            <a:off x="7863840" y="2468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botões e as teclas 1 a 9 adaptam-se ao número de robots.</a:t>
            </a:r>
            <a:endParaRPr lang="en-US" sz="1400" dirty="0"/>
          </a:p>
        </p:txBody>
      </p:sp>
      <p:sp>
        <p:nvSpPr>
          <p:cNvPr id="9" name="Bloco colisao titulo"/>
          <p:cNvSpPr txBox="1"/>
          <p:nvPr/>
        </p:nvSpPr>
        <p:spPr>
          <a:xfrm>
            <a:off x="786384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Colisão abaixo de 2 m</a:t>
            </a:r>
            <a:endParaRPr lang="en-US" sz="1800" dirty="0"/>
          </a:p>
        </p:txBody>
      </p:sp>
      <p:sp>
        <p:nvSpPr>
          <p:cNvPr id="10" name="Bloco colisao texto"/>
          <p:cNvSpPr txBox="1"/>
          <p:nvPr/>
        </p:nvSpPr>
        <p:spPr>
          <a:xfrm>
            <a:off x="7863840" y="3840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Play pára, aparece a faixa vermelha e os dois robots ficam parados (a tecla C alterna).</a:t>
            </a:r>
            <a:endParaRPr lang="en-US" sz="1400" dirty="0"/>
          </a:p>
        </p:txBody>
      </p:sp>
      <p:sp>
        <p:nvSpPr>
          <p:cNvPr id="11" name="Bloco falhas titulo"/>
          <p:cNvSpPr txBox="1"/>
          <p:nvPr/>
        </p:nvSpPr>
        <p:spPr>
          <a:xfrm>
            <a:off x="7863840" y="4937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Dados com falhas</a:t>
            </a:r>
            <a:endParaRPr lang="en-US" sz="1800" dirty="0"/>
          </a:p>
        </p:txBody>
      </p:sp>
      <p:sp>
        <p:nvSpPr>
          <p:cNvPr id="12" name="Bloco falhas texto"/>
          <p:cNvSpPr txBox="1"/>
          <p:nvPr/>
        </p:nvSpPr>
        <p:spPr>
          <a:xfrm>
            <a:off x="7863840" y="5349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Linhas vazias e tempos repetidos são tratados, com aviso no terminal.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Conclusões</a:t>
            </a:r>
            <a:endParaRPr lang="en-US" sz="3200" dirty="0"/>
          </a:p>
        </p:txBody>
      </p:sp>
      <p:sp>
        <p:nvSpPr>
          <p:cNvPr id="3" name="Conclusao 1 cartao"/>
          <p:cNvSpPr/>
          <p:nvPr/>
        </p:nvSpPr>
        <p:spPr>
          <a:xfrm>
            <a:off x="548640" y="155448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4" name="Conclusao 1 circulo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onclusao 1 circulo numero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Conclusao 1 titulo"/>
          <p:cNvSpPr txBox="1"/>
          <p:nvPr/>
        </p:nvSpPr>
        <p:spPr>
          <a:xfrm>
            <a:off x="77724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Do CSV ao painel</a:t>
            </a:r>
            <a:endParaRPr lang="en-US" sz="2000" dirty="0"/>
          </a:p>
        </p:txBody>
      </p:sp>
      <p:sp>
        <p:nvSpPr>
          <p:cNvPr id="7" name="Conclusao 1 texto"/>
          <p:cNvSpPr txBox="1"/>
          <p:nvPr/>
        </p:nvSpPr>
        <p:spPr>
          <a:xfrm>
            <a:off x="77724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Conversão para NED, Kalman com RTS e 6 vistas num só programa.</a:t>
            </a:r>
            <a:endParaRPr lang="en-US" sz="1600" dirty="0"/>
          </a:p>
        </p:txBody>
      </p:sp>
      <p:sp>
        <p:nvSpPr>
          <p:cNvPr id="8" name="Conclusao 2 cartao"/>
          <p:cNvSpPr/>
          <p:nvPr/>
        </p:nvSpPr>
        <p:spPr>
          <a:xfrm>
            <a:off x="4297680" y="155448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Conclusao 2 circulo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nclusao 2 circulo numero"/>
          <p:cNvSpPr txBox="1"/>
          <p:nvPr/>
        </p:nvSpPr>
        <p:spPr>
          <a:xfrm>
            <a:off x="4526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Conclusao 2 titulo"/>
          <p:cNvSpPr txBox="1"/>
          <p:nvPr/>
        </p:nvSpPr>
        <p:spPr>
          <a:xfrm>
            <a:off x="452628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Risco medido</a:t>
            </a:r>
            <a:endParaRPr lang="en-US" sz="2000" dirty="0"/>
          </a:p>
        </p:txBody>
      </p:sp>
      <p:sp>
        <p:nvSpPr>
          <p:cNvPr id="12" name="Conclusao 2 texto"/>
          <p:cNvSpPr txBox="1"/>
          <p:nvPr/>
        </p:nvSpPr>
        <p:spPr>
          <a:xfrm>
            <a:off x="452628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Distância mínima de 27.7 m: nenhum encontro chegou ao perigo.</a:t>
            </a:r>
            <a:endParaRPr lang="en-US" sz="1600" dirty="0"/>
          </a:p>
        </p:txBody>
      </p:sp>
      <p:sp>
        <p:nvSpPr>
          <p:cNvPr id="13" name="Conclusao 3 cartao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Conclusao 3 circulo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Conclusao 3 circulo numero"/>
          <p:cNvSpPr txBox="1"/>
          <p:nvPr/>
        </p:nvSpPr>
        <p:spPr>
          <a:xfrm>
            <a:off x="8275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Conclusao 3 titulo"/>
          <p:cNvSpPr txBox="1"/>
          <p:nvPr/>
        </p:nvSpPr>
        <p:spPr>
          <a:xfrm>
            <a:off x="827532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Pronto para dados novos</a:t>
            </a:r>
            <a:endParaRPr lang="en-US" sz="2000" dirty="0"/>
          </a:p>
        </p:txBody>
      </p:sp>
      <p:sp>
        <p:nvSpPr>
          <p:cNvPr id="17" name="Conclusao 3 texto"/>
          <p:cNvSpPr txBox="1"/>
          <p:nvPr/>
        </p:nvSpPr>
        <p:spPr>
          <a:xfrm>
            <a:off x="827532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Aceita outros CSV e deteta colisões.</a:t>
            </a:r>
            <a:endParaRPr lang="en-US" sz="1600" dirty="0"/>
          </a:p>
        </p:txBody>
      </p:sp>
      <p:sp>
        <p:nvSpPr>
          <p:cNvPr id="18" name="Agradecimento"/>
          <p:cNvSpPr txBox="1"/>
          <p:nvPr/>
        </p:nvSpPr>
        <p:spPr>
          <a:xfrm>
            <a:off x="548640" y="4480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Obrigado. Perguntas?</a:t>
            </a:r>
            <a:endParaRPr lang="en-US" sz="4000" dirty="0"/>
          </a:p>
        </p:txBody>
      </p:sp>
      <p:sp>
        <p:nvSpPr>
          <p:cNvPr id="19" name="Autores final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Geovani Lopes · Luis Lei · Hugo Amado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DB0C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MSA Oceano">
  <a:themeElements>
    <a:clrScheme name="TOMSA Oceano">
      <a:dk1>
        <a:srgbClr val="F2F6FC"/>
      </a:dk1>
      <a:lt1>
        <a:srgbClr val="0B1220"/>
      </a:lt1>
      <a:dk2>
        <a:srgbClr val="9DB0CC"/>
      </a:dk2>
      <a:lt2>
        <a:srgbClr val="13213A"/>
      </a:lt2>
      <a:accent1>
        <a:srgbClr val="27C3DD"/>
      </a:accent1>
      <a:accent2>
        <a:srgbClr val="E63946"/>
      </a:accent2>
      <a:accent3>
        <a:srgbClr val="2A9D8F"/>
      </a:accent3>
      <a:accent4>
        <a:srgbClr val="457B9D"/>
      </a:accent4>
      <a:accent5>
        <a:srgbClr val="F4A261"/>
      </a:accent5>
      <a:accent6>
        <a:srgbClr val="5B7499"/>
      </a:accent6>
      <a:hlink>
        <a:srgbClr val="27C3DD"/>
      </a:hlink>
      <a:folHlink>
        <a:srgbClr val="9DB0CC"/>
      </a:folHlink>
    </a:clrScheme>
    <a:fontScheme name="TOMSA Ocea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TOMSA 2026 - Visualizador de trajetórias de AUVs</dc:title>
  <dc:subject>PptxGenJS Presentation</dc:subject>
  <dc:creator>Geovani Lopes, Luis Lei, Hugo Amado</dc:creator>
  <cp:lastModifiedBy>Geovani Lopes, Luis Lei, Hugo Amado</cp:lastModifiedBy>
  <cp:revision>1</cp:revision>
  <dcterms:created xsi:type="dcterms:W3CDTF">2026-10-30T15:10:51Z</dcterms:created>
  <dcterms:modified xsi:type="dcterms:W3CDTF">2026-10-30T15:10:51Z</dcterms:modified>
</cp:coreProperties>
</file>